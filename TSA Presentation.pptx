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btihel Frini" initials="IF" lastIdx="1" clrIdx="0">
    <p:extLst>
      <p:ext uri="{19B8F6BF-5375-455C-9EA6-DF929625EA0E}">
        <p15:presenceInfo xmlns:p15="http://schemas.microsoft.com/office/powerpoint/2012/main" userId="bdf0f2367e5d04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7506" autoAdjust="0"/>
  </p:normalViewPr>
  <p:slideViewPr>
    <p:cSldViewPr snapToGrid="0">
      <p:cViewPr varScale="1">
        <p:scale>
          <a:sx n="51" d="100"/>
          <a:sy n="51" d="100"/>
        </p:scale>
        <p:origin x="10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EFE8D-65E5-4E67-8DA9-4FEEEB11E7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953CA-730F-4D6C-978E-BC4E1107FA5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953CA-730F-4D6C-978E-BC4E1107FA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05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 will present my analysis comparing Bitcoin and the S&amp;P 500, focusing on their return dynamics and volatility behavior.</a:t>
            </a:r>
          </a:p>
          <a:p>
            <a:r>
              <a:rPr lang="en-US" dirty="0"/>
              <a:t>The goal of this study is to understand whether these two markets behave similarly from a time series perspective.</a:t>
            </a:r>
          </a:p>
          <a:p>
            <a:r>
              <a:rPr lang="en-US" dirty="0"/>
              <a:t>Specifically, I want to answer whether Bitcoin and the S&amp;P 500 exhibit similar return patterns and volatility structures, and whether standard models like ARIMA and GARCH can capture these characteristics.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953CA-730F-4D6C-978E-BC4E1107F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3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analysis, I used daily data for Bitcoin and the S&amp;P 500 from 2018 to 2025, obtained from Yahoo Finance.</a:t>
            </a:r>
          </a:p>
          <a:p>
            <a:r>
              <a:rPr lang="en-US" dirty="0"/>
              <a:t>I transformed the data into log returns, which is standard in financial time series analysis, since returns are more stable than prices.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Because Bitcoin trades every day while the S&amp;P 500 only trades on market days, the return series were aligned using common trading dates before estimation.</a:t>
            </a:r>
          </a:p>
          <a:p>
            <a:r>
              <a:rPr lang="en-US" dirty="0"/>
              <a:t>Then, I first tested for stationarity using the Augmented Dickey-Fuller test.</a:t>
            </a:r>
          </a:p>
          <a:p>
            <a:r>
              <a:rPr lang="en-US" dirty="0"/>
              <a:t>To model the return dynamics, I used ARIMA models, which capture any linear relationships in the data.</a:t>
            </a:r>
          </a:p>
          <a:p>
            <a:r>
              <a:rPr lang="en-US" dirty="0"/>
              <a:t>After that, I applied GARCH models to capture time-varying volatility, since financial data typically shows volatility clustering.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953CA-730F-4D6C-978E-BC4E1107FA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0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ARIMA results show that both Bitcoin and the S&amp;P 500 have very weak autocorrelation in their returns.</a:t>
            </a:r>
          </a:p>
          <a:p>
            <a:r>
              <a:rPr lang="en-US" dirty="0"/>
              <a:t>For Bitcoin, the selected model was ARIMA(5,0,1), and for the S&amp;P 500, ARIMA(4,0,4).</a:t>
            </a:r>
          </a:p>
          <a:p>
            <a:r>
              <a:rPr lang="en-US" dirty="0"/>
              <a:t>However, even with these models, the predictive power is very limited.</a:t>
            </a:r>
          </a:p>
          <a:p>
            <a:r>
              <a:rPr lang="en-US" dirty="0"/>
              <a:t>Residual diagnostics confirm that there is no remaining autocorrelation, which means the models are correctly specified.</a:t>
            </a:r>
          </a:p>
          <a:p>
            <a:r>
              <a:rPr lang="en-US" dirty="0"/>
              <a:t>Overall, this suggests that returns exhibit limited linear predictability, which is consistent with financial market efficiency.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953CA-730F-4D6C-978E-BC4E1107F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61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move to volatility, we observe much stronger patterns in both markets.</a:t>
            </a:r>
            <a:br>
              <a:rPr lang="en-US" dirty="0"/>
            </a:br>
            <a:r>
              <a:rPr lang="en-US" dirty="0"/>
              <a:t>Both series exhibit volatility clustering, meaning that periods of high volatility tend to persist over time.</a:t>
            </a:r>
          </a:p>
          <a:p>
            <a:r>
              <a:rPr lang="en-US" dirty="0"/>
              <a:t>Using GARCH(1,1), I find that volatility persistence is very high in both assets.</a:t>
            </a:r>
            <a:br>
              <a:rPr lang="en-US" dirty="0"/>
            </a:br>
            <a:r>
              <a:rPr lang="en-US" dirty="0"/>
              <a:t>For Bitcoin, the persistence parameter is approximately 0.999, while for the S&amp;P 500 it is around 0.962.</a:t>
            </a:r>
            <a:br>
              <a:rPr lang="en-US" dirty="0"/>
            </a:br>
            <a:r>
              <a:rPr lang="en-US" dirty="0"/>
              <a:t>This means that volatility shocks decay slowly, especially in Bitcoin.</a:t>
            </a:r>
          </a:p>
          <a:p>
            <a:r>
              <a:rPr lang="en-US" dirty="0"/>
              <a:t>However, there are important differences between the two markets.</a:t>
            </a:r>
            <a:br>
              <a:rPr lang="en-US" dirty="0"/>
            </a:br>
            <a:r>
              <a:rPr lang="en-US" dirty="0"/>
              <a:t>Bitcoin maintains a much higher and more persistent level of volatility, reflecting its speculative nature.</a:t>
            </a:r>
            <a:br>
              <a:rPr lang="en-US" dirty="0"/>
            </a:br>
            <a:r>
              <a:rPr lang="en-US" dirty="0"/>
              <a:t>The S&amp;P 500 is more stable overall, although it still experiences temporary spikes during periods of market stress due to global events.</a:t>
            </a:r>
          </a:p>
          <a:p>
            <a:r>
              <a:rPr lang="en-US" dirty="0"/>
              <a:t>To further analyze the relationship between both markets, I applied a VAR-based Granger causality test on the volatility series.</a:t>
            </a:r>
            <a:br>
              <a:rPr lang="en-US" dirty="0"/>
            </a:br>
            <a:r>
              <a:rPr lang="en-US" dirty="0"/>
              <a:t>The results show statistically significant bidirectional causality, meaning that volatility in one market helps predict volatility in the other.</a:t>
            </a:r>
          </a:p>
          <a:p>
            <a:r>
              <a:rPr lang="en-US" dirty="0"/>
              <a:t>Overall, the findings suggest significant cross-market volatility spillovers between cryptocurrency markets and traditional financial markets.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953CA-730F-4D6C-978E-BC4E1107FA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8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both Bitcoin and the S&amp;P 500 show similar statistical properties in terms of stationarity and weak return predictability.</a:t>
            </a:r>
          </a:p>
          <a:p>
            <a:r>
              <a:rPr lang="en-US" dirty="0"/>
              <a:t>However, both exhibit strong volatility clustering, which is well captured by GARCH models.</a:t>
            </a:r>
          </a:p>
          <a:p>
            <a:r>
              <a:rPr lang="en-US" dirty="0"/>
              <a:t>Bitcoin is clearly more volatile and shows stronger persistence, while the S&amp;P 500 is relatively more stable.</a:t>
            </a:r>
          </a:p>
          <a:p>
            <a:r>
              <a:rPr lang="en-US" dirty="0"/>
              <a:t>Finally, the presence of overlapping volatility spikes suggests some degree of interconnected behavior between the two markets.</a:t>
            </a:r>
          </a:p>
          <a:p>
            <a:r>
              <a:rPr lang="en-US" dirty="0"/>
              <a:t>Overall, this analysis shows that ARIMA and GARCH models are effective tools for understanding financial time series.</a:t>
            </a:r>
          </a:p>
          <a:p>
            <a:endParaRPr lang="en-US" dirty="0"/>
          </a:p>
          <a:p>
            <a:r>
              <a:rPr lang="en-US" b="1" dirty="0"/>
              <a:t>Limitations &amp; Future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Univariate GARCH may not fully capture multivariate dependence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 research could apply multivariate volatility models (e.g., DCC-GARCH)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953CA-730F-4D6C-978E-BC4E1107FA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7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FB0B32-D369-4BA9-8F6A-2F0A4B9EF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1C0D19-5159-40AF-BA4D-50DC9629D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16F540-736F-4E8F-B405-5D49B785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7E976B-9BDC-457E-B668-DCD88E67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69BFE8-6CB2-436E-B0D2-C980EF67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0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1E82FF-ED93-49AD-8ED9-92F13D7A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72D91D-31F5-4020-8A5D-DE0EC61F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107AD5-6154-4B5B-B673-5A55C04A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20F66E-7F10-40FB-82F7-19E13235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21B468-ECE1-4AAC-912C-92B9BA07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B370FE-05AC-4905-A240-FA7F51C1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15902E-C2D3-4992-873A-6250F3D79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325F4B-B695-459F-A3C6-D882679C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E8D4D5-E649-4817-A28A-FFB6CEDA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E644FE-6FE3-4DAB-B1E9-78D7862A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1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6414A7-A06D-4328-83E2-772CD63C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1E0666-0D70-4BBF-9925-AB4B543C6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5E071F-B20C-4767-BFF5-866385E55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B31C09-A572-4A1E-813D-9FD31827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BE3EC9-5E2C-402E-9B21-A40FC73E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C52D42-1E5D-412E-9ACA-D00C1C8B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B7B13-0073-4FDD-9504-85EB6C7B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70EE0F-9A88-430B-BE8E-79B25DCCA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4B03A6-5827-468A-8150-DFFBC6579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5F54EBA-A4C6-469F-BD44-0B50F629D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BBAC273-6370-4844-B55E-516CC15BB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3115D28-DD74-46BE-AB17-9E87BDC7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64B47D-807F-47B0-AD70-D019E5B9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CE4E62-F632-4A49-8A09-4EA172A9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4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D26C27-57BE-4951-8489-65AF54BF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388B10-0779-4EC0-ACD3-54F2C8C4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9526B4-B1FC-42A1-ABBD-50307CDB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12A387-5285-4AFE-A1A2-186EC9FB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3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9042F74-6BA7-440E-B5CF-A0DEE66C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97D76FE-B9E6-4E1E-9A9B-F4FC215B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87EC53-EAFE-4FFB-A161-2F7CBDD7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2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28907-5F56-47FF-9E22-2BEA2AC8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C5CB53-F3C9-48B4-BCC2-8998EDD6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A8D518-9B1A-41F9-9EA4-A22F116BF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B08457-4859-4800-A28A-9B4846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7312DC-6FD8-4C51-9CA0-B14B9EFB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2F774F-85AD-4A6A-B175-C53F7A60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8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8CF30-0EBD-4953-A6AB-A72C340D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78391E-7043-4770-A807-7928EA997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68E80E-E5AD-4A62-B5DB-96DFCDDCD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08A3AC-73F2-4A42-9AF1-4B93109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CB2FF0-6389-469D-9900-AAE2FC9A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A37D9B-874F-4AFD-8D5B-4E51B67A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67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B7770-17B7-4C15-8CB6-42AC1748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032D63-E46B-4738-80C2-74D6ABDAD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9C5766-0F2F-4923-99FA-0EA8F387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C26E77-60F0-4551-B38A-2A33BFE0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E2E55D-D954-4224-B4F8-230F5577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4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F8CA3F-EC16-4B8C-99D7-9E97C2858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0CC199-1895-4BEE-8177-38D83DA63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C39733-0D95-427C-A5C0-BBA72D86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6CB03A-FCE5-45EE-BDCC-E9D6A61F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13D597-C724-42FA-B32F-E10C3839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7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ED987C-3775-490B-80F4-F38130D3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562240-7F57-44B2-965B-F5B40DE7E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0DACE6-DFBA-4F68-8B6D-10EDF2719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C86-94D1-4441-AD5E-6351F4AAEF8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37D868-4EA6-4F18-A837-27221486C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5017BE-25E8-46FC-84B8-C97B4848A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211DC-7115-4009-B740-04EB2427A9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534409-FCAD-4873-A5E2-8F64A667D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Time </a:t>
            </a:r>
            <a:r>
              <a:rPr lang="fr-FR" b="1" dirty="0" err="1"/>
              <a:t>Series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r>
              <a:rPr lang="fr-FR" b="1" dirty="0"/>
              <a:t> in Finance</a:t>
            </a:r>
            <a:endParaRPr lang="en-US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926E4F-3C9A-4F93-B07D-5200325D2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2200" dirty="0" err="1"/>
              <a:t>Presented</a:t>
            </a:r>
            <a:r>
              <a:rPr lang="fr-FR" sz="2200" dirty="0"/>
              <a:t> by: Ibtihel Frini</a:t>
            </a:r>
          </a:p>
          <a:p>
            <a:r>
              <a:rPr lang="fr-FR" sz="1800" dirty="0"/>
              <a:t>22/05/2026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9529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8B2D29-93B7-44D0-BAFC-FE4831559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25"/>
            <a:ext cx="10515600" cy="1325563"/>
          </a:xfrm>
        </p:spPr>
        <p:txBody>
          <a:bodyPr/>
          <a:lstStyle/>
          <a:p>
            <a:r>
              <a:rPr lang="en-US" b="1" dirty="0"/>
              <a:t>Bitcoin vs S&amp;P 500: A Volatility Analysis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5DA5D-C26C-46B7-B347-3DF6EF39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Analyze return dynamics of Bitcoin and S&amp;P 500</a:t>
            </a:r>
          </a:p>
          <a:p>
            <a:r>
              <a:rPr lang="en-US" dirty="0"/>
              <a:t>Model returns using ARIMA</a:t>
            </a:r>
          </a:p>
          <a:p>
            <a:r>
              <a:rPr lang="en-US" dirty="0"/>
              <a:t>Model volatility using GARCH(1,1)</a:t>
            </a:r>
          </a:p>
          <a:p>
            <a:r>
              <a:rPr lang="en-US" dirty="0"/>
              <a:t>Compare volatility persistence and clustering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volatility spillovers using VAR and Granger causality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Research Question: </a:t>
            </a:r>
          </a:p>
          <a:p>
            <a:pPr marL="457200" lvl="1" indent="0">
              <a:buNone/>
            </a:pPr>
            <a:r>
              <a:rPr lang="en-US" dirty="0"/>
              <a:t>Do Bitcoin and the S&amp;P 500 exhibit similar return dynamics and volatility patterns?</a:t>
            </a:r>
          </a:p>
        </p:txBody>
      </p:sp>
    </p:spTree>
    <p:extLst>
      <p:ext uri="{BB962C8B-B14F-4D97-AF65-F5344CB8AC3E}">
        <p14:creationId xmlns:p14="http://schemas.microsoft.com/office/powerpoint/2010/main" val="109271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26C66A-7F72-40D1-8ADF-306857BB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969"/>
            <a:ext cx="10515600" cy="1325563"/>
          </a:xfrm>
        </p:spPr>
        <p:txBody>
          <a:bodyPr/>
          <a:lstStyle/>
          <a:p>
            <a:r>
              <a:rPr lang="en-US" b="1" dirty="0"/>
              <a:t>Data &amp; Methodology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8BA4EC-B498-45A0-BA0B-E8F7E86F1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Data:</a:t>
            </a:r>
            <a:endParaRPr lang="en-US" dirty="0"/>
          </a:p>
          <a:p>
            <a:pPr lvl="1"/>
            <a:r>
              <a:rPr lang="en-US" dirty="0"/>
              <a:t>Bitcoin (BTC-USD) </a:t>
            </a:r>
          </a:p>
          <a:p>
            <a:pPr lvl="1"/>
            <a:r>
              <a:rPr lang="en-US" dirty="0"/>
              <a:t>S&amp;P 500 (^GSPC) </a:t>
            </a:r>
          </a:p>
          <a:p>
            <a:pPr lvl="1"/>
            <a:r>
              <a:rPr lang="en-US" dirty="0"/>
              <a:t>Daily data (2018–2025) </a:t>
            </a:r>
          </a:p>
          <a:p>
            <a:pPr lvl="1"/>
            <a:endParaRPr lang="en-US" dirty="0"/>
          </a:p>
          <a:p>
            <a:r>
              <a:rPr lang="en-US" b="1" dirty="0"/>
              <a:t>Methodology:</a:t>
            </a:r>
            <a:endParaRPr lang="en-US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 returns transformation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Alignment of common trading dates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ADF test (stationarity)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ACF/PACF analysis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ARIMA → return dynamics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GARCH(1,1) → conditional volatility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 + Granger causality → volatility spillovers </a:t>
            </a:r>
          </a:p>
          <a:p>
            <a:pPr lvl="1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F29161F-6A8E-4472-A10B-CBD65C78C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22" y="1148284"/>
            <a:ext cx="5567872" cy="456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8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90E1F-346C-4A95-BBF6-A30CBF8A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Return Dynamics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720AF-342A-4F53-9A52-1E90838FB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Weak autocorrelation in both series</a:t>
            </a:r>
          </a:p>
          <a:p>
            <a:r>
              <a:rPr lang="en-US" dirty="0"/>
              <a:t>Bitcoin: ARIMA(5,0,1)</a:t>
            </a:r>
          </a:p>
          <a:p>
            <a:r>
              <a:rPr lang="en-US" dirty="0"/>
              <a:t>S&amp;P 500: ARIMA(4,0,4)</a:t>
            </a:r>
          </a:p>
          <a:p>
            <a:r>
              <a:rPr lang="en-US" dirty="0"/>
              <a:t>Residuals show no residual </a:t>
            </a:r>
          </a:p>
          <a:p>
            <a:pPr marL="0" indent="0">
              <a:buNone/>
            </a:pPr>
            <a:r>
              <a:rPr lang="en-US" dirty="0"/>
              <a:t>autocorrelation (</a:t>
            </a:r>
            <a:r>
              <a:rPr lang="en-US" dirty="0" err="1"/>
              <a:t>Ljung</a:t>
            </a:r>
            <a:r>
              <a:rPr lang="en-US" dirty="0"/>
              <a:t>-Box p &gt; 0.05)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Conclusion:</a:t>
            </a:r>
          </a:p>
          <a:p>
            <a:pPr lvl="1"/>
            <a:r>
              <a:rPr lang="en-US" dirty="0"/>
              <a:t>Returns exhibit limited linear predictability</a:t>
            </a:r>
          </a:p>
          <a:p>
            <a:pPr lvl="1"/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75F91B7-3279-46C5-8667-EAF3FA0B9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575" y="643133"/>
            <a:ext cx="4789119" cy="266341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56C2C07-7E89-45BF-A392-E27275FC3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449" y="3584553"/>
            <a:ext cx="4624245" cy="272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6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6AF6D-ACE2-43DC-914F-53049E5BC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r>
              <a:rPr lang="en-US" b="1" dirty="0"/>
              <a:t>GARCH Results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A5F454-7B99-4708-985D-457A311F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2076"/>
            <a:ext cx="10983524" cy="5267324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volatility clustering observed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volatility persistence: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Bitcoin: </a:t>
            </a:r>
            <a:r>
              <a:rPr lang="el-GR" dirty="0"/>
              <a:t>α + β ≈ 0.9</a:t>
            </a:r>
            <a:r>
              <a:rPr lang="fr-FR" dirty="0"/>
              <a:t>99</a:t>
            </a:r>
            <a:r>
              <a:rPr lang="el-G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S&amp;P 500: </a:t>
            </a:r>
            <a:r>
              <a:rPr lang="el-GR" dirty="0"/>
              <a:t>α + β ≈ 0.96</a:t>
            </a:r>
            <a:r>
              <a:rPr lang="fr-FR" dirty="0"/>
              <a:t>2</a:t>
            </a:r>
            <a:r>
              <a:rPr lang="el-GR" dirty="0"/>
              <a:t> </a:t>
            </a:r>
            <a:endParaRPr lang="fr-FR" dirty="0"/>
          </a:p>
          <a:p>
            <a:pPr marL="457200" lvl="1" indent="0">
              <a:buNone/>
            </a:pPr>
            <a:endParaRPr lang="el-GR" dirty="0"/>
          </a:p>
          <a:p>
            <a:r>
              <a:rPr lang="en-US" b="1" dirty="0"/>
              <a:t>Key Insight:</a:t>
            </a:r>
            <a:endParaRPr lang="en-US" dirty="0"/>
          </a:p>
          <a:p>
            <a:pPr lvl="1"/>
            <a:r>
              <a:rPr lang="en-US" dirty="0"/>
              <a:t>Bitcoin → higher volatility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S&amp;P 500 → volatility is lower but </a:t>
            </a:r>
            <a:br>
              <a:rPr lang="en-US" dirty="0"/>
            </a:br>
            <a:r>
              <a:rPr lang="en-US" dirty="0"/>
              <a:t>exhibits temporary spikes during </a:t>
            </a:r>
            <a:br>
              <a:rPr lang="en-US" dirty="0"/>
            </a:br>
            <a:r>
              <a:rPr lang="en-US" dirty="0"/>
              <a:t>market stress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Volatility spillovers detected between </a:t>
            </a:r>
            <a:br>
              <a:rPr lang="en-US" dirty="0"/>
            </a:br>
            <a:r>
              <a:rPr lang="en-US" dirty="0"/>
              <a:t>both markets</a:t>
            </a:r>
          </a:p>
          <a:p>
            <a:pPr lvl="1"/>
            <a:endParaRPr lang="en-US" dirty="0"/>
          </a:p>
          <a:p>
            <a:r>
              <a:rPr lang="en-US" b="1" dirty="0"/>
              <a:t>Granger Causality:</a:t>
            </a:r>
          </a:p>
          <a:p>
            <a:pPr marL="0" indent="0">
              <a:buNone/>
            </a:pPr>
            <a:r>
              <a:rPr lang="en-US" dirty="0"/>
              <a:t>Significant bidirectional volatility influence (p &lt; 0.01)</a:t>
            </a:r>
          </a:p>
          <a:p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8BE6788-0D7D-4668-BC78-BAEB56726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1" y="1104901"/>
            <a:ext cx="5716198" cy="414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2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03AE8-7D92-4CD7-87D6-1D6E8EF2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9EB68-C5A6-4DCB-B4A3-A29F84554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return series are stationary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Returns exhibit weak linear predictability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volatility clustering observed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Bitcoin shows persistently higher volatility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 volatility spillovers detected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ARIMA and GARCH effectively model financial time series behavior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ARIMA and GARCH effectively capture financial time series behavior.</a:t>
            </a:r>
          </a:p>
        </p:txBody>
      </p:sp>
    </p:spTree>
    <p:extLst>
      <p:ext uri="{BB962C8B-B14F-4D97-AF65-F5344CB8AC3E}">
        <p14:creationId xmlns:p14="http://schemas.microsoft.com/office/powerpoint/2010/main" val="26182503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941</Words>
  <Application>Microsoft Office PowerPoint</Application>
  <PresentationFormat>Grand écran</PresentationFormat>
  <Paragraphs>94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Thème Office</vt:lpstr>
      <vt:lpstr>Time Series Analysis in Finance</vt:lpstr>
      <vt:lpstr>Bitcoin vs S&amp;P 500: A Volatility Analysis</vt:lpstr>
      <vt:lpstr>Data &amp; Methodology</vt:lpstr>
      <vt:lpstr>Return Dynamics</vt:lpstr>
      <vt:lpstr>GARCH 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Analysis in Finance</dc:title>
  <dc:creator>Ibtihel Frini</dc:creator>
  <cp:lastModifiedBy>Ibtihel Frini</cp:lastModifiedBy>
  <cp:revision>15</cp:revision>
  <dcterms:created xsi:type="dcterms:W3CDTF">2026-04-30T09:41:51Z</dcterms:created>
  <dcterms:modified xsi:type="dcterms:W3CDTF">2026-05-22T11:01:40Z</dcterms:modified>
</cp:coreProperties>
</file>